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477" autoAdjust="0"/>
    <p:restoredTop sz="87702" autoAdjust="0"/>
  </p:normalViewPr>
  <p:slideViewPr>
    <p:cSldViewPr snapToGrid="0">
      <p:cViewPr varScale="1">
        <p:scale>
          <a:sx n="51" d="100"/>
          <a:sy n="51" d="100"/>
        </p:scale>
        <p:origin x="404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16.sv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28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28.svg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31.sv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2.jpe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13.svg"/><Relationship Id="rId4" Type="http://schemas.openxmlformats.org/officeDocument/2006/relationships/image" Target="../media/image33.svg"/><Relationship Id="rId9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ICBC </a:t>
            </a:r>
            <a:r>
              <a:rPr lang="ko-KR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사례 분석</a:t>
            </a:r>
          </a:p>
          <a:p>
            <a:pPr algn="ctr">
              <a:lnSpc>
                <a:spcPct val="125000"/>
              </a:lnSpc>
              <a:defRPr/>
            </a:pPr>
            <a:endParaRPr lang="ko-KR" alt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342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06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4826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ko-KR" alt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발표자 </a:t>
            </a:r>
            <a:r>
              <a:rPr lang="en-US" altLang="ko-KR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ko-KR" alt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예스치 </a:t>
            </a:r>
            <a:r>
              <a:rPr lang="en-US" altLang="ko-KR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2022215755</a:t>
            </a:r>
          </a:p>
          <a:p>
            <a:pPr marL="0" indent="0" algn="ctr">
              <a:lnSpc>
                <a:spcPct val="116666"/>
              </a:lnSpc>
              <a:defRPr/>
            </a:pPr>
            <a:r>
              <a:rPr lang="ko-KR" alt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황이닝 </a:t>
            </a:r>
            <a:r>
              <a:rPr lang="en-US" altLang="ko-KR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2024215444</a:t>
            </a:r>
            <a:r>
              <a:rPr 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100" dirty="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목차 </a:t>
            </a:r>
            <a:r>
              <a:rPr lang="en-US" sz="2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41500" y="2095500"/>
            <a:ext cx="203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 개요 및 설립 배경</a:t>
            </a:r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중국공상은행</a:t>
            </a: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(ICBC)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5500" y="2032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24500" y="2095500"/>
            <a:ext cx="203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 핵심 업무 분석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개인금융 </a:t>
            </a:r>
            <a:r>
              <a:rPr lang="zh-CN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기업금융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국제업무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18500" y="2032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9207500" y="2095500"/>
            <a:ext cx="203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3302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44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841500" y="4508500"/>
            <a:ext cx="203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업계 이슈 및 과제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800" b="1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위안화</a:t>
            </a:r>
            <a:endParaRPr lang="en-US" altLang="ko-KR" sz="1200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부동산 리스크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국제화 전략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445000" y="4191000"/>
            <a:ext cx="3302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35500" y="444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524500" y="4508500"/>
            <a:ext cx="203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종합 분석 및 미래 전망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SWOT 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분석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미래 핵심 경쟁력과 발전 방향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28000" y="4191000"/>
            <a:ext cx="3302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318500" y="444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9207500" y="4508500"/>
            <a:ext cx="203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은행업 취업과 핵심 역량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800" b="1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핵심 역량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관련 자격증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36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은행 개요 및 설립 배경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중국공상은행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（ICBC）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기본 개요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설립일</a:t>
            </a: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1984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년 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월 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일</a:t>
            </a:r>
            <a:endParaRPr lang="en-US" altLang="ko-KR" sz="13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기관 유형</a:t>
            </a: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중국 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대 국유 상업은행 중 하나</a:t>
            </a:r>
            <a:endParaRPr lang="en-US" altLang="ko-KR" sz="13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위상</a:t>
            </a: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세계 최대 규모의 상업은행 중 하나로 여러 해 연속 선정</a:t>
            </a:r>
            <a:endParaRPr lang="en-US" sz="13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13102" y="1777114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4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32400" y="2012212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설립 배경 및 목적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635500" y="2667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en-US" altLang="ko-KR" sz="1300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1980</a:t>
            </a:r>
            <a:r>
              <a:rPr lang="ko-KR" altLang="en-US" sz="1300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KR" panose="020B0200000000000000" pitchFamily="34" charset="-122"/>
                <a:cs typeface="Noto Sans SC"/>
                <a:sym typeface="Noto Sans SC"/>
              </a:rPr>
              <a:t>년대 초 중국 금융체제 개혁 과정에서 설립되었으며</a:t>
            </a:r>
            <a:r>
              <a:rPr lang="en-US" altLang="ko-KR" sz="1300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,</a:t>
            </a:r>
            <a:r>
              <a:rPr lang="ko-KR" altLang="en-US" sz="1300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KR" panose="020B0200000000000000" pitchFamily="34" charset="-122"/>
                <a:cs typeface="Noto Sans SC"/>
                <a:sym typeface="Noto Sans SC"/>
              </a:rPr>
              <a:t>중국인민은행에 속해 있던 상업은행 업무를 분리하여 전문 상업은행 체계를 구축하는 것이 핵심 목적이었다</a:t>
            </a:r>
            <a:r>
              <a:rPr lang="en-US" altLang="ko-KR" sz="1300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.</a:t>
            </a:r>
          </a:p>
          <a:p>
            <a:pPr marL="0" indent="0">
              <a:lnSpc>
                <a:spcPct val="125000"/>
              </a:lnSpc>
              <a:defRPr/>
            </a:pPr>
            <a:r>
              <a:rPr lang="ko-KR" altLang="en-US" sz="1300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KR" panose="020B0200000000000000" pitchFamily="34" charset="-122"/>
                <a:cs typeface="Noto Sans SC"/>
                <a:sym typeface="Noto Sans SC"/>
              </a:rPr>
              <a:t>또한 사회의 상업금융 기능을 담당하고 자금의 효율적인 흐름을 촉진하며 금융 서비스 효율성을 높이기 위해 설립되었다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.</a:t>
            </a:r>
            <a:endParaRPr lang="en-US" sz="1300" b="0" i="0" u="none" strike="noStrike" dirty="0">
              <a:solidFill>
                <a:srgbClr val="666666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시장 영향력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318500" y="25908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Batang" panose="02030600000101010101" pitchFamily="18" charset="-127"/>
                <a:cs typeface="Noto Sans SC"/>
                <a:sym typeface="Noto Sans SC"/>
              </a:rPr>
              <a:t>깊은 역사적 기반과 국가적 신뢰도를 바탕으로 방대한 개인 및 기업 고객층을 확보하고 있으며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Batang" panose="02030600000101010101" pitchFamily="18" charset="-127"/>
                <a:cs typeface="Noto Sans SC"/>
                <a:sym typeface="Noto Sans SC"/>
              </a:rPr>
              <a:t>전국과 글로벌 시장을 연결하는 광범위한 금융 네트워크를 구축하고 있다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. </a:t>
            </a:r>
            <a:r>
              <a:rPr lang="ko-KR" altLang="en-US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Batang" panose="02030600000101010101" pitchFamily="18" charset="-127"/>
                <a:cs typeface="Noto Sans SC"/>
                <a:sym typeface="Noto Sans SC"/>
              </a:rPr>
              <a:t>또한 지급결제와 대출 업무 등 다양한 금융 분야에서 중요한 시장 지위를 차지하고 있다</a:t>
            </a:r>
            <a:r>
              <a:rPr lang="en-US" altLang="ko-KR" sz="1300" b="0" i="0" u="none" strike="noStrike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/>
                <a:sym typeface="Noto Sans SC"/>
              </a:rPr>
              <a:t>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16689" r="16689"/>
          <a:stretch>
            <a:fillRect/>
          </a:stretch>
        </p:blipFill>
        <p:spPr>
          <a:xfrm>
            <a:off x="1143000" y="5207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2032000" y="53975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공상은행</a:t>
            </a:r>
            <a:endParaRPr lang="en-US" altLang="ko-KR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INDUSTRIAL &amp; COMMERCIAL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rcRect l="21874" r="21875"/>
          <a:stretch>
            <a:fillRect/>
          </a:stretch>
        </p:blipFill>
        <p:spPr>
          <a:xfrm>
            <a:off x="3937000" y="5207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4826000" y="53975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건설은행</a:t>
            </a:r>
            <a:endParaRPr lang="en-US" altLang="ko-KR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CONSTRUCTION BANK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 t="14394" b="14394"/>
          <a:stretch>
            <a:fillRect/>
          </a:stretch>
        </p:blipFill>
        <p:spPr>
          <a:xfrm>
            <a:off x="6477000" y="5207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366000" y="53975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농업은행</a:t>
            </a:r>
            <a:endParaRPr lang="en-US" altLang="ko-KR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AGRICULTURAL BANK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rcRect t="6140" b="6140"/>
          <a:stretch>
            <a:fillRect/>
          </a:stretch>
        </p:blipFill>
        <p:spPr>
          <a:xfrm>
            <a:off x="9017000" y="5207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9906000" y="53975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중국은행</a:t>
            </a:r>
            <a:endParaRPr lang="en-US" altLang="ko-KR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BANK OF CHINA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은행 핵심 업무 분석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개인금융 업무 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안정적인 기반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개인금융 업무는 은행의 가장 기본적이고 고객 범위가 가장 넓은 사업으로</a:t>
            </a:r>
            <a:r>
              <a:rPr lang="en-US" altLang="ko-KR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은행에 안정적이고 낮은 비용의 자금 조달원을 제공하며 은행의 안정적인 성장과 운영을 뒷받침하는 핵심 기반이다</a:t>
            </a:r>
            <a:r>
              <a:rPr lang="en-US" altLang="ko-KR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6096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76200" cy="15875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558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주요 상품 및 서비스 체계</a:t>
            </a:r>
            <a:endParaRPr lang="en-US" altLang="ko-KR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600" b="1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ko-KR" altLang="en-US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수신 업무 </a:t>
            </a:r>
            <a:r>
              <a:rPr lang="en-US" altLang="ko-KR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개인 저축예금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보통예금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정기예금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0" indent="0" algn="l">
              <a:lnSpc>
                <a:spcPct val="100000"/>
              </a:lnSpc>
              <a:defRPr/>
            </a:pPr>
            <a:r>
              <a:rPr lang="ko-KR" altLang="en-US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여신 업무 </a:t>
            </a:r>
            <a:r>
              <a:rPr lang="en-US" altLang="ko-KR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주택담보대출 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자동차대출 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자산관리 상품 및 펀드</a:t>
            </a:r>
            <a:endParaRPr lang="en-US" sz="1200" b="0" i="0" u="none" strike="noStrike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ko-KR" altLang="en-US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비이자 업무 </a:t>
            </a:r>
            <a:r>
              <a:rPr lang="en-US" altLang="ko-KR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은행카드 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지급결제 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보험 판매 </a:t>
            </a:r>
            <a:r>
              <a:rPr lang="en-US" altLang="ko-KR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외환환전</a:t>
            </a:r>
            <a:endParaRPr lang="en-US" sz="1200" b="0" i="0" u="none" strike="noStrike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6096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558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핵심 특징</a:t>
            </a:r>
            <a:endParaRPr lang="en-US" altLang="ko-KR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👥</a:t>
            </a:r>
            <a:r>
              <a:rPr lang="ko-KR" altLang="en-US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방대한 고객 기반 </a:t>
            </a:r>
            <a:r>
              <a:rPr lang="en-US" altLang="ko-KR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수억 명 규모의 개인 고객 보유</a:t>
            </a:r>
            <a:endParaRPr lang="en-US" altLang="ko-KR" sz="1200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📊</a:t>
            </a:r>
            <a:r>
              <a:rPr lang="ko-KR" altLang="en-US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안정적인 예금 기반 </a:t>
            </a:r>
            <a:r>
              <a:rPr lang="en-US" altLang="ko-KR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부채 구조의 핵심 기반</a:t>
            </a:r>
            <a:endParaRPr lang="en-US" altLang="ko-KR" sz="1200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📱</a:t>
            </a:r>
            <a:r>
              <a:rPr lang="ko-KR" altLang="en-US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높은 디지털화 수준 </a:t>
            </a:r>
            <a:r>
              <a:rPr lang="en-US" altLang="ko-KR" sz="1200" b="1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모바일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인터넷뱅킹이 주요 서비스 채널로 자리잡음</a:t>
            </a:r>
            <a:endParaRPr lang="en-US" sz="12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778500"/>
            <a:ext cx="6096000" cy="889000"/>
          </a:xfrm>
          <a:prstGeom prst="roundRect">
            <a:avLst>
              <a:gd name="adj" fmla="val 11428"/>
            </a:avLst>
          </a:prstGeom>
          <a:solidFill>
            <a:srgbClr val="FCF8EB">
              <a:alpha val="100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9309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5905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수익 구조 </a:t>
            </a:r>
            <a:r>
              <a:rPr lang="en-US" altLang="ko-KR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순이자마진 중심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낮은 비용으로 예금을 유치하고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더 높은 금리로 대출을 제공하여 이자 차익을 얻는 구조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t="10156" b="10156"/>
          <a:stretch>
            <a:fillRect/>
          </a:stretch>
        </p:blipFill>
        <p:spPr>
          <a:xfrm>
            <a:off x="7366000" y="2032000"/>
            <a:ext cx="4064000" cy="4318000"/>
          </a:xfrm>
          <a:prstGeom prst="roundRect">
            <a:avLst>
              <a:gd name="adj" fmla="val 375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7629" r="7629"/>
          <a:stretch>
            <a:fillRect/>
          </a:stretch>
        </p:blipFill>
        <p:spPr>
          <a:xfrm>
            <a:off x="508000" y="1651000"/>
            <a:ext cx="5588000" cy="457200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604000" y="635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기업 금융 업무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이익의 핵심 엔진</a:t>
            </a:r>
          </a:p>
        </p:txBody>
      </p:sp>
      <p:sp>
        <p:nvSpPr>
          <p:cNvPr id="5" name="AutoShape 5"/>
          <p:cNvSpPr/>
          <p:nvPr/>
        </p:nvSpPr>
        <p:spPr>
          <a:xfrm>
            <a:off x="6604000" y="1651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기업금융업무는 은행의 가장 핵심적이고 가장 복잡한 업무 부문으로</a:t>
            </a:r>
            <a:r>
              <a:rPr lang="en-US" altLang="ko-KR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각종 기업을 대상으로 서비스를 제공하며 은행의 영업수익과 이익의 기반이자 주요 원천이다</a:t>
            </a:r>
            <a:r>
              <a:rPr lang="en-US" altLang="ko-KR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604000" y="2438400"/>
            <a:ext cx="4953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604000" y="2438400"/>
            <a:ext cx="76200" cy="1524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58000" y="2520950"/>
            <a:ext cx="4445000" cy="1416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6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주요 상품 및 서비스 체계</a:t>
            </a:r>
            <a:endParaRPr lang="en-US" altLang="ko-KR" sz="1600" b="1" i="0" u="none" strike="noStrike" dirty="0">
              <a:solidFill>
                <a:srgbClr val="D4AF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자산업무</a:t>
            </a:r>
            <a:r>
              <a:rPr lang="en-US" altLang="ko-KR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기업대출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운전자금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프로젝트 대출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),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무역금융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어음할인</a:t>
            </a:r>
            <a:endParaRPr lang="en-US" sz="1200" b="0" i="0" u="none" strike="noStrike" dirty="0">
              <a:solidFill>
                <a:srgbClr val="5A5A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부채업무</a:t>
            </a:r>
            <a:r>
              <a:rPr lang="en-US" altLang="ko-KR" sz="1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기업예금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단위 협약예금</a:t>
            </a:r>
            <a:endParaRPr lang="en-US" altLang="ko-KR" sz="1200" dirty="0">
              <a:solidFill>
                <a:srgbClr val="5A5A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sz="1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중간업무</a:t>
            </a:r>
            <a:r>
              <a:rPr lang="en-US" altLang="ko-KR" sz="1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지급결제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투자은행업무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인수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합병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200" b="0" i="0" u="none" strike="noStrike" dirty="0">
              <a:solidFill>
                <a:srgbClr val="5A5A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408305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604000" y="4083050"/>
            <a:ext cx="76200" cy="1397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858000" y="4114800"/>
            <a:ext cx="4445000" cy="1346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6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업무의 핵심 특징</a:t>
            </a:r>
            <a:endParaRPr lang="en-US" altLang="ko-KR" sz="1600" b="1" i="0" u="none" strike="noStrike" dirty="0">
              <a:solidFill>
                <a:srgbClr val="D4AF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🎯</a:t>
            </a:r>
            <a:r>
              <a:rPr lang="ko-KR" altLang="en-US" sz="1200" b="1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고수익과 고위험 </a:t>
            </a:r>
            <a:r>
              <a:rPr lang="en-US" altLang="ko-KR" sz="1200" b="1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단일 거래 금액이 매우 커서 수익 기여도가 높지만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신용위험 집중도가 높다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⏳</a:t>
            </a:r>
            <a:r>
              <a:rPr lang="ko-KR" altLang="en-US" sz="1200" b="1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낮은 유동성 </a:t>
            </a:r>
            <a:r>
              <a:rPr lang="en-US" altLang="ko-KR" sz="1200" b="1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Thin" panose="020B0200000000000000" pitchFamily="34" charset="-122"/>
                <a:ea typeface="Noto Sans KR Thin" panose="020B0200000000000000" pitchFamily="34" charset="-122"/>
                <a:cs typeface="Noto Sans SC"/>
                <a:sym typeface="Noto Sans SC"/>
              </a:rPr>
              <a:t>대출 기간이 길고 자금 회수 주기가 느리다</a:t>
            </a:r>
            <a:r>
              <a:rPr lang="en-US" altLang="ko-KR" sz="12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Thin" panose="020B0200000000000000" pitchFamily="34" charset="-122"/>
                <a:ea typeface="Noto Sans KR Thin" panose="020B0200000000000000" pitchFamily="34" charset="-122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🤝</a:t>
            </a:r>
            <a:r>
              <a:rPr lang="ko-KR" altLang="en-US" sz="1200" b="1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관계 중심 </a:t>
            </a:r>
            <a:r>
              <a:rPr lang="en-US" altLang="ko-KR" sz="1200" b="1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1200" b="1" dirty="0">
                <a:solidFill>
                  <a:srgbClr val="5A5A5A"/>
                </a:solidFill>
                <a:latin typeface="Noto Sans KR Thin" panose="020B0200000000000000" pitchFamily="34" charset="-122"/>
                <a:ea typeface="Noto Sans KR Thin" panose="020B0200000000000000" pitchFamily="34" charset="-122"/>
                <a:cs typeface="Noto Sans SC"/>
                <a:sym typeface="Noto Sans SC"/>
              </a:rPr>
              <a:t>기업과의 장기적이고 안정적인 협력 관계에 크게 의존한다</a:t>
            </a:r>
            <a:r>
              <a:rPr lang="en-US" altLang="ko-KR" sz="1200" b="1" dirty="0">
                <a:solidFill>
                  <a:srgbClr val="5A5A5A"/>
                </a:solidFill>
                <a:latin typeface="Noto Sans KR Thin" panose="020B0200000000000000" pitchFamily="34" charset="-122"/>
                <a:ea typeface="Noto Sans KR Thin" panose="020B0200000000000000" pitchFamily="34" charset="-122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5A5A5A"/>
              </a:solidFill>
              <a:latin typeface="Noto Sans KR Thin" panose="020B0200000000000000" pitchFamily="34" charset="-122"/>
              <a:ea typeface="Noto Sans KR Thin" panose="020B0200000000000000" pitchFamily="34" charset="-122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56007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5611091"/>
            <a:ext cx="76200" cy="1143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5689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65324" y="5588000"/>
            <a:ext cx="4037676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 관리는 생명선이다</a:t>
            </a:r>
            <a:endParaRPr lang="en-US" altLang="ko-KR" sz="15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높은 위험 특성에 대응하기 위해 은행은 대출 전 평가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대출 중 모니터링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대출 후 관리 체계를 매우 엄격하게 구축하여 위험과 수익의 균형을 맞춰야 한다</a:t>
            </a:r>
            <a:r>
              <a:rPr lang="en-US" altLang="ko-KR" sz="12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5A5A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국제업무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글로벌화의 확장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0" i="0" u="none" strike="noStrike" dirty="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경제 세계화가 지속적으로 심화됨에 따라</a:t>
            </a:r>
            <a:r>
              <a:rPr lang="en-US" altLang="ko-KR" sz="1300" b="0" i="0" u="none" strike="noStrike" dirty="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국제업무를 구축하는 것은 대형 상업은행이 글로벌 자원 배분 능력을 제고하고 종합 경쟁력을 강화하기 위한 필수적인 경로가 되었다</a:t>
            </a:r>
            <a:r>
              <a:rPr lang="en-US" altLang="ko-KR" sz="1300" b="0" i="0" u="none" strike="noStrike" dirty="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ko-KR" alt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주요 업무 범위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530600"/>
            <a:ext cx="412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네트워크 구축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해외에 광범위하게 지점을 설립하여 ‘단일 접속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대응’이 가능한 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24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시간 글로벌 금융 서비스 네트워크를 구축한다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419600"/>
            <a:ext cx="412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전방위 크로스보더 금융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국경 간 결제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외환 매매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현금 관리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해외 투자 및 자금 조달 등을 포괄하며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기업의 ‘유치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인바운드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)’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와 ‘해외 진출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아웃바운드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)’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을 전폭적으로 지원한다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53086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국가 전략 지원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‘일대일로’ 건설에 깊이 참여하여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연선 국가의 인프라 프로젝트와 무역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경제 교류에 전방위적인 자금 및 지적 지원을 제공한다</a:t>
            </a:r>
            <a:r>
              <a:rPr lang="en-US" altLang="ko-KR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 t="5357" b="5357"/>
          <a:stretch>
            <a:fillRect/>
          </a:stretch>
        </p:blipFill>
        <p:spPr>
          <a:xfrm>
            <a:off x="6350000" y="1778000"/>
            <a:ext cx="5080000" cy="3048000"/>
          </a:xfrm>
          <a:prstGeom prst="roundRect">
            <a:avLst>
              <a:gd name="adj" fmla="val 500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350000" y="5080000"/>
            <a:ext cx="5080000" cy="1143000"/>
          </a:xfrm>
          <a:prstGeom prst="roundRect">
            <a:avLst>
              <a:gd name="adj" fmla="val 13333"/>
            </a:avLst>
          </a:prstGeom>
          <a:solidFill>
            <a:srgbClr val="D4AF3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40500" y="5270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시스템적으로 중요한 은행</a:t>
            </a:r>
            <a:endParaRPr lang="en-US" altLang="ko-KR" sz="16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ko-KR" altLang="en-US" sz="11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국제화 수준이 높고 서비스 네트워크가 광범위하다</a:t>
            </a:r>
            <a:r>
              <a:rPr lang="en-US" altLang="ko-KR" sz="11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851900" y="5334000"/>
            <a:ext cx="127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017000" y="5270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국제 금융시장에서의 핵심 역할</a:t>
            </a:r>
            <a:endParaRPr lang="en-US" altLang="ko-KR" sz="16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ko-KR" altLang="en-US" sz="11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영향력과 발언권이 지속적으로 확대되고 있다</a:t>
            </a:r>
            <a:r>
              <a:rPr lang="en-US" altLang="ko-KR" sz="11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업계 이슈 및 과제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588000" y="533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3708" b="13708"/>
          <a:stretch>
            <a:fillRect/>
          </a:stretch>
        </p:blipFill>
        <p:spPr>
          <a:xfrm>
            <a:off x="508000" y="2032000"/>
            <a:ext cx="5334000" cy="2794000"/>
          </a:xfrm>
          <a:prstGeom prst="rect">
            <a:avLst/>
          </a:prstGeom>
          <a:noFill/>
          <a:ln w="25400" cap="flat" cmpd="sng">
            <a:solidFill>
              <a:srgbClr val="D4AF37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508000" y="5080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400" b="0" i="1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법정 디지털 화폐 </a:t>
            </a:r>
            <a:r>
              <a:rPr lang="en-US" altLang="ko-KR" sz="1400" b="0" i="1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400" b="0" i="1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결제 구조의 변화 </a:t>
            </a:r>
            <a:r>
              <a:rPr lang="en-US" altLang="ko-KR" sz="1400" b="0" i="1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ko-KR" altLang="en-US" sz="1400" b="0" i="1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금융의 혁신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604000" y="635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위안화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(e-CNY): 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결제 시스템의 재편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604000" y="1778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위안화는 중국 인민은행이 발행하는 법정 디지털 화폐로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국가 신용을 기반으로 하며 은행업의 디지털 전환과 결제 구조 재편에 중대한 영향을 미친다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604000" y="2540000"/>
            <a:ext cx="4953000" cy="1270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0" y="254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0" y="2794000"/>
            <a:ext cx="4445000" cy="7891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ICBC</a:t>
            </a:r>
            <a:r>
              <a:rPr lang="ko-KR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의 핵심 역할</a:t>
            </a:r>
            <a:r>
              <a:rPr lang="en-US" sz="12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ko-KR" altLang="en-US" sz="12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지정 운영기관</a:t>
            </a:r>
            <a:endParaRPr lang="en-US" altLang="ko-KR" sz="1200" b="0" i="0" u="none" strike="noStrike" dirty="0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초기 지정 운영기관 중 하나로서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공상은행은 디지털 위안화의 발행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교환 및 전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全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시나리오 유통 서비스에 깊이 참여하며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중앙은행과 대중을 연결하는 동시에 디지털 금융 생태계를 구축하는 중요한 허브 역할을 수행한다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39370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393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858000" y="4064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ko-KR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ko-KR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대 핵심 강점</a:t>
            </a:r>
            <a:endParaRPr lang="en-US" altLang="ko-KR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국가 신용 및 무제한 법정 지급력</a:t>
            </a:r>
            <a:r>
              <a:rPr 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중앙은행의 보증으로 안전성이 높다</a:t>
            </a:r>
            <a:r>
              <a:rPr lang="en-US" altLang="ko-KR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무현금 결제</a:t>
            </a:r>
            <a:r>
              <a:rPr 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altLang="ko-KR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P2P </a:t>
            </a:r>
            <a:r>
              <a:rPr lang="ko-KR" alt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즉시 결제로 비용을 절감한다</a:t>
            </a:r>
            <a:r>
              <a:rPr lang="en-US" altLang="ko-KR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ko-KR" alt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통제 가능한 익명성</a:t>
            </a:r>
            <a:r>
              <a:rPr 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개인정보 보호와 규제 준수의 균형을 유지한다</a:t>
            </a:r>
            <a:r>
              <a:rPr lang="en-US" altLang="ko-KR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•</a:t>
            </a:r>
            <a:r>
              <a:rPr lang="ko-KR" alt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기술 기반 강화</a:t>
            </a:r>
            <a:r>
              <a:rPr lang="en-US" sz="1100" b="1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이중 오프라인 결제를 지원하며 네트워크 적응성이 강하다</a:t>
            </a:r>
            <a:r>
              <a:rPr lang="en-US" altLang="ko-KR" sz="11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604000" y="5461000"/>
            <a:ext cx="495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546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58000" y="5588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은행업에 대한 심대한 가치</a:t>
            </a:r>
            <a:endParaRPr lang="en-US" altLang="ko-KR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은행의 지급결제 청산 시스템의 디지털 전환을 촉진하고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비즈니스 모델과 고객 확보 채널을 혁신하며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크로스보더 결제와 포용적 금융 등 분야에서 새로운 성장 공간을 창출한다</a:t>
            </a:r>
            <a:r>
              <a:rPr lang="en-US" altLang="ko-KR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부동산 리스크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은행업의 스트레스 테스트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18796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78000"/>
            <a:ext cx="393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 발생 원인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대출 규모가 매우 큼</a:t>
            </a:r>
            <a:endParaRPr lang="en-US" altLang="ko-KR" sz="1300" b="1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기업 부채 문제</a:t>
            </a:r>
            <a:endParaRPr lang="en-US" sz="13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" y="36576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556000"/>
            <a:ext cx="393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은행이 직면한 과제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부실채권 증가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담보 가치 하락</a:t>
            </a:r>
            <a:endParaRPr lang="en-US" sz="13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207000" cy="1524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1998" y="5080000"/>
            <a:ext cx="76201" cy="1524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53721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207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ICBC</a:t>
            </a:r>
            <a:r>
              <a:rPr lang="ko-KR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의 대응 전략</a:t>
            </a:r>
            <a:endParaRPr lang="en-US" altLang="ko-KR" sz="18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하한선 사고를 견지하며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대출 전 과정 심사 강화</a:t>
            </a:r>
            <a:r>
              <a:rPr lang="en-US" altLang="ko-KR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 식별 및 관리 수준 제고</a:t>
            </a:r>
            <a:r>
              <a:rPr lang="en-US" altLang="ko-KR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신용 구조 최적화</a:t>
            </a:r>
            <a:r>
              <a:rPr lang="en-US" altLang="ko-KR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적시 자본 보충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등의 조치를 통해 리스크 대응 능력을 강화하고 금융 시스템의 안정성을 유지한다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3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l="14894" r="14894"/>
          <a:stretch>
            <a:fillRect/>
          </a:stretch>
        </p:blipFill>
        <p:spPr>
          <a:xfrm>
            <a:off x="6350000" y="1651000"/>
            <a:ext cx="5080000" cy="4826000"/>
          </a:xfrm>
          <a:prstGeom prst="roundRect">
            <a:avLst>
              <a:gd name="adj" fmla="val 421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3747" r="13747"/>
          <a:stretch>
            <a:fillRect/>
          </a:stretch>
        </p:blipFill>
        <p:spPr>
          <a:xfrm>
            <a:off x="762000" y="1143000"/>
            <a:ext cx="5207000" cy="4826000"/>
          </a:xfrm>
          <a:prstGeom prst="rect">
            <a:avLst/>
          </a:prstGeom>
          <a:noFill/>
          <a:ln w="25400" cap="flat" cmpd="sng">
            <a:solidFill>
              <a:srgbClr val="D4AF37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604000" y="635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국제화 전략</a:t>
            </a:r>
            <a:r>
              <a:rPr lang="en-US" altLang="ko-KR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‘</a:t>
            </a:r>
            <a:r>
              <a:rPr lang="ko-KR" alt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일대일로’와 글로벌 네트워크 구축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604000" y="1778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‘일대일로’ 구상은 글로벌 경제 지리 구조를 재편했을 뿐만 아니라</a:t>
            </a:r>
            <a:r>
              <a:rPr lang="en-US" altLang="ko-KR" sz="13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중국 은행업의 글로벌화 발전에 전례 없는 역사적 기회와 광범위한 성장 공간을 제공하였다</a:t>
            </a:r>
            <a:r>
              <a:rPr lang="en-US" altLang="ko-KR" sz="13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604000" y="2794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3048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0" y="292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7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전략적 정합성</a:t>
            </a:r>
            <a:endParaRPr lang="en-US" altLang="ko-KR" sz="1700" b="1" i="0" u="none" strike="noStrike" dirty="0">
              <a:solidFill>
                <a:srgbClr val="D4AF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ko-KR" sz="12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ICBC</a:t>
            </a:r>
            <a:r>
              <a:rPr lang="ko-KR" altLang="en-US" sz="12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의 글로벌화 전략은 국가의 ‘일대일로’ 구상과 깊이 융합되어</a:t>
            </a:r>
            <a:r>
              <a:rPr lang="en-US" altLang="ko-KR" sz="12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자본의 해외 진출을 이끄는 주요 통로이자 선도적 역할을 수행하고 있다</a:t>
            </a:r>
            <a:r>
              <a:rPr lang="en-US" altLang="ko-KR" sz="12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ECEFF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4191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7310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네트워크 구축</a:t>
            </a:r>
            <a:endParaRPr lang="en-US" altLang="ko-KR" sz="1400" b="1" i="0" u="none" strike="noStrike" dirty="0">
              <a:solidFill>
                <a:srgbClr val="D4AF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ko-KR" altLang="en-US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‘일대일로’ 연선 국가에 지점을 설립하여 글로벌 서비스 네트워크를 구축한다</a:t>
            </a:r>
            <a:r>
              <a:rPr lang="en-US" altLang="ko-KR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b="0" i="0" u="none" strike="noStrike" dirty="0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2550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지원</a:t>
            </a:r>
            <a:endParaRPr lang="en-US" altLang="ko-KR" sz="1400" b="1" i="0" u="none" strike="noStrike" dirty="0">
              <a:solidFill>
                <a:srgbClr val="D4AF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ko-KR" altLang="en-US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인프라 및 무역</a:t>
            </a:r>
            <a:r>
              <a:rPr lang="en-US" altLang="ko-KR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경제 교류에 대해 다각적이고 전방위적인 자금 지원을 제공한다</a:t>
            </a:r>
            <a:r>
              <a:rPr lang="en-US" altLang="ko-KR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b="0" i="0" u="none" strike="noStrike" dirty="0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779000" y="4318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4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통화 국제화</a:t>
            </a:r>
            <a:endParaRPr lang="en-US" altLang="ko-KR" sz="1400" b="1" i="0" u="none" strike="noStrike" dirty="0">
              <a:solidFill>
                <a:srgbClr val="D4AF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ko-KR" altLang="en-US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국경 간 무역 및 투자</a:t>
            </a:r>
            <a:r>
              <a:rPr lang="en-US" altLang="ko-KR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자금 조달에서 위안화 결제 사용을 적극적으로 확대한다</a:t>
            </a:r>
            <a:r>
              <a:rPr lang="en-US" altLang="ko-KR" sz="11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b="0" i="0" u="none" strike="noStrike" dirty="0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604000" y="5715000"/>
            <a:ext cx="5080000" cy="1016000"/>
          </a:xfrm>
          <a:prstGeom prst="roundRect">
            <a:avLst>
              <a:gd name="adj" fmla="val 10000"/>
            </a:avLst>
          </a:prstGeom>
          <a:solidFill>
            <a:srgbClr val="D4AF37">
              <a:alpha val="15000"/>
            </a:srgbClr>
          </a:solidFill>
          <a:ln w="12700" cap="flat" cmpd="sng">
            <a:solidFill>
              <a:srgbClr val="D4AF37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59182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0" y="5842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전략적 가치와 의의</a:t>
            </a:r>
            <a:endParaRPr lang="en-US" altLang="ko-KR" sz="16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ECEFF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은행 자체의 비즈니스 영역을 확장하고 글로벌 브랜드 영향력을 제고하는 동시에</a:t>
            </a:r>
            <a:r>
              <a:rPr lang="en-US" altLang="ko-KR" sz="1200" b="0" i="0" u="none" strike="noStrike" dirty="0">
                <a:solidFill>
                  <a:srgbClr val="ECEFF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ECEFF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국가의 대외 개방 전략을 효율적으로 지원한다</a:t>
            </a:r>
            <a:r>
              <a:rPr lang="en-US" altLang="ko-KR" sz="1200" b="0" i="0" u="none" strike="noStrike" dirty="0">
                <a:solidFill>
                  <a:srgbClr val="ECEFF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ECEFF1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종합 분석 및 미래 전망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ICBC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의 강점과 과제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(SWOT 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분석</a:t>
            </a: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143000" cy="2286000"/>
          </a:xfrm>
          <a:prstGeom prst="roundRect">
            <a:avLst>
              <a:gd name="adj" fmla="val 11111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300" y="2159000"/>
            <a:ext cx="533400" cy="533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29210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강점</a:t>
            </a:r>
            <a:endParaRPr lang="en-US" altLang="ko-KR" sz="18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STRENGTHS</a:t>
            </a:r>
          </a:p>
        </p:txBody>
      </p:sp>
      <p:sp>
        <p:nvSpPr>
          <p:cNvPr id="8" name="AutoShape 8"/>
          <p:cNvSpPr/>
          <p:nvPr/>
        </p:nvSpPr>
        <p:spPr>
          <a:xfrm>
            <a:off x="2095500" y="19685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핵심 경쟁력</a:t>
            </a:r>
            <a:endParaRPr lang="en-US" altLang="ko-KR" sz="15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거대한 규모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선도 수준의 자산 규모를 보유하고 있으며 고객 기반이 매우 크다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안정적인 고객 기반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충성도가 높은 개인 및 기업 고객층이 축적되어 있다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강한 신용 보증과 리스크 관리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국유 대형은행으로서의 국가 신용 보증과 완비된 리스크 관리 체계를 갖추고 있다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1143000" cy="2286000"/>
          </a:xfrm>
          <a:prstGeom prst="roundRect">
            <a:avLst>
              <a:gd name="adj" fmla="val 11111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4300" y="2159000"/>
            <a:ext cx="533400" cy="533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29210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약점</a:t>
            </a:r>
            <a:endParaRPr lang="en-US" altLang="ko-KR" sz="18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WEAKNESSES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556500" y="19685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개선이 시급함</a:t>
            </a:r>
            <a:endParaRPr lang="en-US" altLang="ko-KR" sz="15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의사결정 체계가 길다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조직 구조의 단계가 많아 시장 변화에 대한 대응 속도가 상대적으로 느리다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혁신 활력의 제약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비교적 보수적인 제도가 제품 및 비즈니스 혁신에 영향을 미친다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자산 구조 리스크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동산 산업에 대한 대출 익스포저가 크며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산업 변동의 영향을 크게 받는다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1143000" cy="2286000"/>
          </a:xfrm>
          <a:prstGeom prst="roundRect">
            <a:avLst>
              <a:gd name="adj" fmla="val 11111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300" y="4699000"/>
            <a:ext cx="533400" cy="533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62000" y="54610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기회</a:t>
            </a:r>
            <a:endParaRPr lang="en-US" altLang="ko-KR" sz="18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OPPORTUNITIES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2095500" y="45085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전략적 신기회</a:t>
            </a:r>
            <a:endParaRPr lang="en-US" altLang="ko-KR" sz="15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전환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기술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(FinTech) 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적용을 심화하여 온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오프라인 통합 서비스를 재구축한다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녹색 금융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국가의 ‘이중 탄소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탄소 피크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탄소 중립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)’ 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전략에 적극 대응하여 녹색 신용 및 투자 영역을 확대한다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포용적 금융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서비스 중심을 하향 이동시켜 더 넓은 롱테일 중소기업 및 개인 고객을 포괄한다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318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1143000" cy="2286000"/>
          </a:xfrm>
          <a:prstGeom prst="roundRect">
            <a:avLst>
              <a:gd name="adj" fmla="val 11111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4300" y="4699000"/>
            <a:ext cx="533400" cy="533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223000" y="54610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위협</a:t>
            </a:r>
            <a:endParaRPr lang="en-US" altLang="ko-KR" sz="18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THREATS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556500" y="45085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외부 도전 과제</a:t>
            </a:r>
            <a:endParaRPr lang="en-US" altLang="ko-KR" sz="15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크로스오버 경쟁 심화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인터넷 금융과 빅테크 기업들이 결제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자산관리 등 분야에서 경쟁을 확대하고 있다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거시적 불확실성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및 국내 경제 변동성이 증가하면서 신용자산 건전성에 대한 압력이 커지고 있다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ko-KR" alt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순이자마진 지속 축소</a:t>
            </a:r>
            <a:r>
              <a:rPr lang="en-US" sz="12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ko-KR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금리 시장화가 지속적으로 심화되면서 전통적인 이자마진 기반 수익 공간이 축소되고 있다</a:t>
            </a:r>
            <a:r>
              <a:rPr lang="en-US" altLang="ko-KR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미래 은행의 핵심 경쟁력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미래 은행의 경쟁은 더 이상 단순한 규모 경쟁이 아니라 종합 역량의 경쟁이 될 것이다</a:t>
            </a:r>
            <a:r>
              <a:rPr lang="en-US" altLang="ko-KR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핵심 공식</a:t>
            </a:r>
            <a:r>
              <a:rPr lang="en-US" altLang="ko-KR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ko-KR" alt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미래 은행 경쟁력</a:t>
            </a: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ko-KR" altLang="en-US" sz="2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규모</a:t>
            </a:r>
            <a:r>
              <a:rPr lang="en-US" sz="24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ko-KR" altLang="en-US" sz="2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기술</a:t>
            </a:r>
            <a:r>
              <a:rPr lang="en-US" sz="24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ko-KR" altLang="en-US" sz="2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 관리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18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31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/</a:t>
            </a: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규모 기반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16000" y="4927600"/>
            <a:ext cx="2794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규모는 여전히 발전의 기반으로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은행에 견고한 비용 우위를 제공하는 동시에 광범위한 시장 영향력과 고객 접근 능력을 확립한다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445000" y="4064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4318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431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/</a:t>
            </a: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기술 주도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699000" y="4927600"/>
            <a:ext cx="2794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기술은 핵심적인 원동력으로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은행의 운영 효율성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상품 및 서비스의 혁신 속도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그리고 고객의 전 과정 경험을 직접적으로 결정한다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128000" y="4064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4318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431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/</a:t>
            </a: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 하한선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382000" y="4927600"/>
            <a:ext cx="2794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 관리는 결코 넘어설 수 없는 하한선으로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은행의 건전한 경영을 보장하는 근본이며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불확실한 시장 환경에서 은행이 얼마나 멀리 나아갈 수 있는지를 결정한다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ko-KR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ICBC</a:t>
            </a: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의 미래 발전 방향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76200" cy="1778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디지털 전환의 심화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795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기술을 전면적으로 수용하고 오픈뱅킹 생태계를 구축하여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고객을 더 잘 이해하는 지능화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개인화된 디지털 은행의 새로운 표준을 만든다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06900" y="17780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06900" y="1968500"/>
            <a:ext cx="76200" cy="1778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400" y="203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594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ko-KR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응용 가속화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7244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인공지능 기술을 심층적으로 융합하여 리스크 식별 능력을 크게 향상시키고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전 채널 고객 서비스 경험과 업무 운영 효율성을 최적화한다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089900" y="17780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64500" y="1968500"/>
            <a:ext cx="76200" cy="1778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글로벌화 발전 추진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382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글로벌 서비스 네트워크를 안정적으로 확충하고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‘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내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외화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온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오프쇼어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국내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해외’ 일체화 서비스 역량을 심화하여 실물경제의 해외 진출을 지원한다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2095500" y="4191000"/>
            <a:ext cx="381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2095500" y="4381500"/>
            <a:ext cx="76200" cy="1651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30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048000" y="4419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전면적 리스크 관리 강화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2413000" y="5207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복잡하고 변화무쌍한 시장 환경에 대응하는 선제적 리스크 거버넌스 체계를 구축하고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시스템 리스크가 발생하지 않도록 하는 하한선을 지키며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건전 경영의 기반을 공고히 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286500" y="4191000"/>
            <a:ext cx="381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86500" y="4381500"/>
            <a:ext cx="76200" cy="1651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445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239000" y="4419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9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녹색 금융 발전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6604000" y="5207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ESG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이념을 적극적으로 실천하고 지속가능 발전을 전 업무 프로세스에 통합하며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녹색 산업을 적극 지원하여 경제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사회의 저탄소 전환을 촉진한다</a:t>
            </a:r>
            <a:r>
              <a:rPr lang="en-US" altLang="ko-KR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334000" y="3937000"/>
            <a:ext cx="1524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은행업 취업과 핵심 역량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핵심 역량 요구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5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은행업에 진출하고자 하는 전문 인력은 복합적인 지식과 기술을 갖추어야 한다</a:t>
            </a:r>
            <a:r>
              <a:rPr lang="en-US" altLang="ko-KR" sz="15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금융 분석 역량</a:t>
            </a:r>
            <a:endParaRPr lang="en-US" altLang="ko-KR" sz="17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거시경제 동향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산업 발전 사이클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기업 재무제표 분석 논리를 깊이 이해해야 한다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241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데이터 역량</a:t>
            </a:r>
            <a:endParaRPr lang="en-US" altLang="ko-KR" sz="17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다양한 데이터 분석 도구를 능숙하게 활용하고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방대한 금융 데이터에서 가치를 도출할 수 있는 능력을 갖추어야 한다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302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215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241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국제업무 역량</a:t>
            </a:r>
            <a:endParaRPr lang="en-US" altLang="ko-KR" sz="17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국제 금융시장 규칙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외환 관리 정책 및 각종 크로스보더 금융 업무 프로세스를 숙지해야 한다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143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508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4381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커뮤니케이션 및 협업 역량</a:t>
            </a:r>
            <a:endParaRPr lang="en-US" altLang="ko-KR" sz="17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우수한 언어 표현 및 경청 능력을 갖추고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고객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내부 팀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감독 기관 간에 효율적인 소통과 협업 체계를 구축할 수 있어야 한다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86500" y="4191000"/>
            <a:ext cx="5143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86500" y="419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508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02500" y="4381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컴플라이언스 및 리스크 인식</a:t>
            </a:r>
            <a:endParaRPr lang="en-US" altLang="ko-KR" sz="17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하한선 사고를 확립하고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업무 수행 과정에서 국가 법규 및 은행 내부 각종 규정을 엄격히 준수하며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리스크를 효과적으로 식별하고 통제해야 한다</a:t>
            </a:r>
            <a:r>
              <a:rPr lang="en-US" altLang="ko-KR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5969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🚀</a:t>
            </a:r>
            <a:r>
              <a:rPr lang="ko-KR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미래 트렌드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3048000" y="5994400"/>
            <a:ext cx="812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1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은행업의 디지털 전환이 가속화되면서 ‘금융 </a:t>
            </a:r>
            <a:r>
              <a:rPr lang="en-US" altLang="ko-KR" sz="1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+ IT + </a:t>
            </a:r>
            <a:r>
              <a:rPr lang="ko-KR" altLang="en-US" sz="1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데이터’의 복합적 배경을 갖춘 융합형 인재에 대한 선호가 점점 높아지고 있다</a:t>
            </a:r>
            <a:r>
              <a:rPr lang="en-US" altLang="ko-KR" sz="1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추천 전문 자격증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06600"/>
            <a:ext cx="1778000" cy="167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CFA(</a:t>
            </a:r>
            <a:r>
              <a:rPr lang="ko-KR" alt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공인재무분석사</a:t>
            </a:r>
            <a:r>
              <a:rPr lang="en-US" altLang="ko-KR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Chartered Financial Analyst)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3556000" y="1778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2006600"/>
            <a:ext cx="1778000" cy="167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FRM(</a:t>
            </a:r>
            <a:r>
              <a:rPr lang="ko-KR" alt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금융위험관리사</a:t>
            </a:r>
            <a:r>
              <a:rPr lang="en-US" altLang="ko-KR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Financial Risk Manager)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3746500" y="2667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44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419600"/>
            <a:ext cx="1778000" cy="167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ko-KR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AFP / CFP(</a:t>
            </a:r>
            <a:r>
              <a:rPr lang="ko-KR" alt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재무설계사</a:t>
            </a:r>
            <a:r>
              <a:rPr lang="en-US" altLang="ko-KR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ko-KR" alt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재무상담사</a:t>
            </a:r>
            <a:r>
              <a:rPr lang="en-US" altLang="ko-KR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52500" y="5080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3556000" y="4191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6500" y="444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91000" y="4419600"/>
            <a:ext cx="1778000" cy="167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CPA(</a:t>
            </a:r>
            <a:r>
              <a:rPr lang="ko-KR" alt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공인회계사</a:t>
            </a:r>
            <a:r>
              <a:rPr lang="en-US" altLang="ko-KR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800" b="1" i="0" u="none" strike="noStrike" dirty="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Certified Public Accountant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3746500" y="5080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 t="21084" b="21084"/>
          <a:stretch>
            <a:fillRect/>
          </a:stretch>
        </p:blipFill>
        <p:spPr>
          <a:xfrm>
            <a:off x="6477000" y="1778000"/>
            <a:ext cx="4953000" cy="2159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 t="20189" b="20189"/>
          <a:stretch>
            <a:fillRect/>
          </a:stretch>
        </p:blipFill>
        <p:spPr>
          <a:xfrm>
            <a:off x="6477000" y="4191000"/>
            <a:ext cx="4953000" cy="2159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ko-KR" alt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참고 자료 및 정보 출처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ICBC Annual Report 2025 -</a:t>
            </a:r>
            <a:r>
              <a:rPr lang="en-US" sz="1400" b="0" i="0" u="sng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https://www.icbc-ltd.com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ICBC Financial Highlights -</a:t>
            </a:r>
            <a:r>
              <a:rPr lang="en-US" sz="1400" b="0" i="0" u="sng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https://www.icbc.com.cn</a:t>
            </a: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Frederic S. Mishkin, The Economics of Money, Banking and Financial Markets</a:t>
            </a: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04.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Basel III Capital Regulation (BCBS)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2159000"/>
            <a:ext cx="4699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05.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中国工商银行2025年度报告 (中文官方版)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3000"/>
              </a:spcBef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06.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中国银行保险监督管理委员会 (CBIRC) 发布的监管指引及统计数据</a:t>
            </a:r>
          </a:p>
          <a:p>
            <a:pPr marL="0" indent="0" algn="l">
              <a:lnSpc>
                <a:spcPct val="125000"/>
              </a:lnSpc>
              <a:spcBef>
                <a:spcPts val="3000"/>
              </a:spcBef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07.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中国人民银行 (PBOC) 货币政策执行报告及宏观金融相关资料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1465545"/>
            <a:ext cx="12192000" cy="3614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ko-KR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감사합니다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1806</Words>
  <Application>Microsoft Office PowerPoint</Application>
  <PresentationFormat>宽屏</PresentationFormat>
  <Paragraphs>234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Noto Sans KR Thin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伶伊 凌</cp:lastModifiedBy>
  <cp:revision>41</cp:revision>
  <dcterms:modified xsi:type="dcterms:W3CDTF">2026-05-24T10:47:39Z</dcterms:modified>
</cp:coreProperties>
</file>